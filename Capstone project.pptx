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D28"/>
    <a:srgbClr val="AFABAB"/>
    <a:srgbClr val="A06FE2"/>
    <a:srgbClr val="789A1D"/>
    <a:srgbClr val="3DC8D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8738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1363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5635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75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9963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6085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247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91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62524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0009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192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655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247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3633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897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59841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739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0972088-BCCB-4DA3-A3C7-07500FDB58EF}" type="datetimeFigureOut">
              <a:rPr lang="de-DE" smtClean="0"/>
              <a:t>03.12.2025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E71C36AA-02AA-45FE-8C10-59F92E501E7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97731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microsoft.com/office/2007/relationships/hdphoto" Target="../media/hdphoto7.wdp"/><Relationship Id="rId3" Type="http://schemas.microsoft.com/office/2007/relationships/hdphoto" Target="../media/hdphoto2.wdp"/><Relationship Id="rId7" Type="http://schemas.microsoft.com/office/2007/relationships/hdphoto" Target="../media/hdphoto4.wdp"/><Relationship Id="rId12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microsoft.com/office/2007/relationships/hdphoto" Target="../media/hdphoto6.wdp"/><Relationship Id="rId5" Type="http://schemas.microsoft.com/office/2007/relationships/hdphoto" Target="../media/hdphoto3.wdp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microsoft.com/office/2007/relationships/hdphoto" Target="../media/hdphoto5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7D6B98-3051-F31F-430B-E5447F711B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1135" y="3429000"/>
            <a:ext cx="10672665" cy="1641490"/>
          </a:xfrm>
        </p:spPr>
        <p:txBody>
          <a:bodyPr>
            <a:normAutofit/>
          </a:bodyPr>
          <a:lstStyle/>
          <a:p>
            <a:r>
              <a:rPr lang="en-US" sz="4400" dirty="0"/>
              <a:t>Building a Scalable WordPress Architecture </a:t>
            </a:r>
            <a:br>
              <a:rPr lang="en-US" sz="4400" dirty="0"/>
            </a:br>
            <a:r>
              <a:rPr lang="en-US" sz="4400" dirty="0"/>
              <a:t>using Infrastructure as Code</a:t>
            </a:r>
            <a:endParaRPr lang="de-DE" sz="44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2C1FFE-752F-97C9-3BBB-8DE00CA37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09800" y="5737470"/>
            <a:ext cx="9144000" cy="754025"/>
          </a:xfrm>
        </p:spPr>
        <p:txBody>
          <a:bodyPr>
            <a:normAutofit/>
          </a:bodyPr>
          <a:lstStyle/>
          <a:p>
            <a:r>
              <a:rPr lang="de-DE" sz="1800" dirty="0"/>
              <a:t>Heiko Graceffa  -  AWS Cloud Computing</a:t>
            </a:r>
          </a:p>
          <a:p>
            <a:r>
              <a:rPr lang="de-DE" sz="1800" dirty="0"/>
              <a:t>Capstone Project 09.12.2025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E9A7C2-948C-A24A-18B4-8FBE68356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447" y="3429000"/>
            <a:ext cx="813318" cy="81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3198A80-F29C-270B-50BC-4E29416123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17117" y1="26906" x2="17117" y2="26906"/>
                        <a14:foregroundMark x1="46847" y1="36771" x2="46847" y2="36771"/>
                        <a14:foregroundMark x1="46847" y1="72646" x2="46847" y2="7264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04964" y="3436427"/>
            <a:ext cx="809671" cy="81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908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8386A94-AC2C-A069-12B7-3875BC510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8B26B22-3D2D-AE66-F1F5-03F84AA5C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Problems &amp; </a:t>
            </a:r>
            <a:r>
              <a:rPr lang="de-DE" dirty="0" err="1"/>
              <a:t>Requirements</a:t>
            </a:r>
            <a:endParaRPr lang="de-DE" dirty="0"/>
          </a:p>
          <a:p>
            <a:r>
              <a:rPr lang="de-DE" dirty="0"/>
              <a:t>AWS Solution Architecture</a:t>
            </a:r>
          </a:p>
          <a:p>
            <a:r>
              <a:rPr lang="de-DE" dirty="0"/>
              <a:t>About </a:t>
            </a:r>
            <a:r>
              <a:rPr lang="de-DE" dirty="0" err="1"/>
              <a:t>the</a:t>
            </a:r>
            <a:r>
              <a:rPr lang="de-DE" dirty="0"/>
              <a:t> AWS-Services</a:t>
            </a:r>
          </a:p>
          <a:p>
            <a:r>
              <a:rPr lang="de-DE" dirty="0"/>
              <a:t>Infrastructure </a:t>
            </a:r>
            <a:r>
              <a:rPr lang="de-DE" dirty="0" err="1"/>
              <a:t>as</a:t>
            </a:r>
            <a:r>
              <a:rPr lang="de-DE" dirty="0"/>
              <a:t> Code (</a:t>
            </a:r>
            <a:r>
              <a:rPr lang="de-DE" dirty="0" err="1"/>
              <a:t>IaC</a:t>
            </a:r>
            <a:r>
              <a:rPr lang="de-DE" dirty="0"/>
              <a:t>): Terraform</a:t>
            </a:r>
          </a:p>
          <a:p>
            <a:r>
              <a:rPr lang="de-DE" dirty="0" err="1"/>
              <a:t>Deployment</a:t>
            </a:r>
            <a:r>
              <a:rPr lang="de-DE" dirty="0"/>
              <a:t> Workflow</a:t>
            </a:r>
          </a:p>
          <a:p>
            <a:r>
              <a:rPr lang="de-DE" dirty="0" err="1"/>
              <a:t>Result</a:t>
            </a:r>
            <a:endParaRPr lang="de-DE" dirty="0"/>
          </a:p>
          <a:p>
            <a:r>
              <a:rPr lang="de-DE" dirty="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641885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FD41C-5E2E-85EA-C39F-BF6F7CE8E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8F634B1-2072-BE3B-E7F4-FCD4FED06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Problems &amp; </a:t>
            </a:r>
            <a:r>
              <a:rPr lang="de-DE" dirty="0" err="1"/>
              <a:t>Requirements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698F346-20D5-7537-260D-259900C65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6488" y="1825625"/>
            <a:ext cx="10233800" cy="4351338"/>
          </a:xfrm>
        </p:spPr>
        <p:txBody>
          <a:bodyPr/>
          <a:lstStyle/>
          <a:p>
            <a:pPr marL="0" indent="0">
              <a:buNone/>
            </a:pPr>
            <a:r>
              <a:rPr lang="de-DE" dirty="0"/>
              <a:t> Manual </a:t>
            </a:r>
            <a:r>
              <a:rPr lang="de-DE" dirty="0" err="1"/>
              <a:t>steps</a:t>
            </a:r>
            <a:r>
              <a:rPr lang="de-DE" dirty="0"/>
              <a:t> </a:t>
            </a:r>
            <a:r>
              <a:rPr lang="de-DE" dirty="0" err="1"/>
              <a:t>are</a:t>
            </a:r>
            <a:r>
              <a:rPr lang="de-DE" dirty="0"/>
              <a:t> </a:t>
            </a:r>
            <a:r>
              <a:rPr lang="de-DE" dirty="0" err="1"/>
              <a:t>error-prone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 Hard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scale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reproduce</a:t>
            </a:r>
            <a:r>
              <a:rPr lang="de-DE" dirty="0"/>
              <a:t> </a:t>
            </a:r>
          </a:p>
          <a:p>
            <a:pPr marL="0" indent="0">
              <a:buNone/>
            </a:pPr>
            <a:r>
              <a:rPr lang="de-DE" dirty="0"/>
              <a:t> </a:t>
            </a:r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seperation</a:t>
            </a:r>
            <a:r>
              <a:rPr lang="de-DE" dirty="0"/>
              <a:t> </a:t>
            </a:r>
            <a:r>
              <a:rPr lang="de-DE" dirty="0" err="1"/>
              <a:t>between</a:t>
            </a:r>
            <a:r>
              <a:rPr lang="de-DE" dirty="0"/>
              <a:t> web </a:t>
            </a:r>
            <a:r>
              <a:rPr lang="de-DE" dirty="0" err="1"/>
              <a:t>server</a:t>
            </a:r>
            <a:r>
              <a:rPr lang="de-DE" dirty="0"/>
              <a:t> and Database</a:t>
            </a:r>
          </a:p>
          <a:p>
            <a:endParaRPr lang="de-DE" dirty="0"/>
          </a:p>
          <a:p>
            <a:pPr marL="0" indent="0">
              <a:buNone/>
            </a:pPr>
            <a:r>
              <a:rPr lang="en-US" dirty="0"/>
              <a:t> Need a modern, automated WordPress solution </a:t>
            </a:r>
          </a:p>
          <a:p>
            <a:pPr marL="0" indent="0">
              <a:buNone/>
            </a:pPr>
            <a:r>
              <a:rPr lang="en-US" dirty="0"/>
              <a:t> Should use scalable AWS services</a:t>
            </a:r>
          </a:p>
          <a:p>
            <a:pPr marL="0" indent="0">
              <a:buNone/>
            </a:pPr>
            <a:r>
              <a:rPr lang="en-US" dirty="0"/>
              <a:t> Must be secure, repeatable, and cloud-native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600F52-8590-18AA-795D-0D910CC71B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50000" y1="44715" x2="50000" y2="44715"/>
                        <a14:foregroundMark x1="52083" y1="69106" x2="52083" y2="6910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05723" y="1842678"/>
            <a:ext cx="475863" cy="40646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FBB3199-8200-93F2-A996-65B63377E5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28986" y1="56780" x2="28986" y2="56780"/>
                        <a14:foregroundMark x1="50000" y1="54237" x2="50000" y2="54237"/>
                        <a14:foregroundMark x1="68116" y1="55085" x2="68116" y2="55085"/>
                        <a14:foregroundMark x1="75362" y1="38983" x2="75362" y2="389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36284" y="2408910"/>
            <a:ext cx="475862" cy="40689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F0C93597-3B34-6547-29D1-640F077633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01" b="90099" l="6863" r="89216">
                        <a14:foregroundMark x1="10784" y1="34653" x2="10784" y2="34653"/>
                        <a14:foregroundMark x1="8824" y1="31683" x2="8824" y2="31683"/>
                        <a14:foregroundMark x1="7843" y1="28713" x2="7843" y2="14851"/>
                        <a14:foregroundMark x1="7843" y1="54455" x2="7843" y2="54455"/>
                        <a14:foregroundMark x1="7843" y1="63366" x2="7843" y2="63366"/>
                        <a14:foregroundMark x1="8824" y1="76238" x2="8824" y2="76238"/>
                        <a14:foregroundMark x1="34314" y1="33663" x2="34314" y2="33663"/>
                        <a14:foregroundMark x1="57843" y1="59406" x2="57843" y2="59406"/>
                        <a14:foregroundMark x1="69608" y1="90099" x2="69608" y2="900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64225" y="2886113"/>
            <a:ext cx="381092" cy="37735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78AC174-304C-A642-BDE2-5E272E62E9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>
                        <a14:foregroundMark x1="32990" y1="50000" x2="32990" y2="50000"/>
                        <a14:foregroundMark x1="29897" y1="43137" x2="29897" y2="43137"/>
                        <a14:foregroundMark x1="30928" y1="53922" x2="30928" y2="70588"/>
                        <a14:foregroundMark x1="71134" y1="49020" x2="71134" y2="66667"/>
                        <a14:foregroundMark x1="44330" y1="46078" x2="44330" y2="46078"/>
                        <a14:foregroundMark x1="34021" y1="46078" x2="34021" y2="46078"/>
                        <a14:foregroundMark x1="32990" y1="46078" x2="32990" y2="46078"/>
                        <a14:foregroundMark x1="32990" y1="53922" x2="32990" y2="53922"/>
                        <a14:foregroundMark x1="32990" y1="54902" x2="32990" y2="54902"/>
                        <a14:foregroundMark x1="51546" y1="10784" x2="51546" y2="10784"/>
                        <a14:foregroundMark x1="46752" y1="43578" x2="45361" y2="43137"/>
                        <a14:foregroundMark x1="45722" y1="41901" x2="43299" y2="42157"/>
                        <a14:backgroundMark x1="53608" y1="36275" x2="46392" y2="37255"/>
                        <a14:backgroundMark x1="52577" y1="37255" x2="44330" y2="37255"/>
                        <a14:backgroundMark x1="49485" y1="37255" x2="42268" y2="362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6719" y="3867931"/>
            <a:ext cx="381092" cy="400736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15E779E4-ABE9-3A00-94CB-E94AE67BF61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10000" b="90000" l="10000" r="90000">
                        <a14:foregroundMark x1="25893" y1="24272" x2="25893" y2="242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3109" y="4451290"/>
            <a:ext cx="381092" cy="350469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AA07A684-B595-6428-EE00-3A38351838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backgroundRemoval t="10000" b="90000" l="10000" r="90000">
                        <a14:foregroundMark x1="54167" y1="60177" x2="49167" y2="65487"/>
                        <a14:foregroundMark x1="75833" y1="62832" x2="82500" y2="707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88125" y="4931170"/>
            <a:ext cx="372180" cy="35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908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60389-3F5A-3BB3-9E16-A3AFDF91D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hteck 32">
            <a:extLst>
              <a:ext uri="{FF2B5EF4-FFF2-40B4-BE49-F238E27FC236}">
                <a16:creationId xmlns:a16="http://schemas.microsoft.com/office/drawing/2014/main" id="{1C47EBD3-F4F0-3E09-001D-D866B00B6D40}"/>
              </a:ext>
            </a:extLst>
          </p:cNvPr>
          <p:cNvSpPr/>
          <p:nvPr/>
        </p:nvSpPr>
        <p:spPr>
          <a:xfrm>
            <a:off x="961534" y="1317812"/>
            <a:ext cx="10515599" cy="5422353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BFE3748-427F-A60A-3FBF-311BEEE63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AWS Solution Architecture</a:t>
            </a:r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142B900D-CC6F-EEEB-D2E3-57FAC9AAA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142" y="5534851"/>
            <a:ext cx="995102" cy="644369"/>
          </a:xfrm>
          <a:prstGeom prst="rect">
            <a:avLst/>
          </a:prstGeom>
          <a:ln w="38100">
            <a:noFill/>
          </a:ln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6DC335A4-E5D9-B1E8-B20B-9D6700B98664}"/>
              </a:ext>
            </a:extLst>
          </p:cNvPr>
          <p:cNvSpPr/>
          <p:nvPr/>
        </p:nvSpPr>
        <p:spPr>
          <a:xfrm>
            <a:off x="1340177" y="1896883"/>
            <a:ext cx="9511645" cy="4802188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9C69E9B8-A3CF-A618-F850-55E79DFA1EF9}"/>
              </a:ext>
            </a:extLst>
          </p:cNvPr>
          <p:cNvSpPr/>
          <p:nvPr/>
        </p:nvSpPr>
        <p:spPr>
          <a:xfrm>
            <a:off x="1340177" y="1896884"/>
            <a:ext cx="978817" cy="260660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AWS Cloud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B37B51-E89F-013D-9249-9ECA03E2817C}"/>
              </a:ext>
            </a:extLst>
          </p:cNvPr>
          <p:cNvSpPr/>
          <p:nvPr/>
        </p:nvSpPr>
        <p:spPr>
          <a:xfrm>
            <a:off x="1461941" y="2225724"/>
            <a:ext cx="9268118" cy="4381271"/>
          </a:xfrm>
          <a:prstGeom prst="rect">
            <a:avLst/>
          </a:prstGeom>
          <a:noFill/>
          <a:ln w="28575">
            <a:solidFill>
              <a:srgbClr val="A06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D972DE18-2C35-470A-D61D-170B80BA0BCF}"/>
              </a:ext>
            </a:extLst>
          </p:cNvPr>
          <p:cNvSpPr/>
          <p:nvPr/>
        </p:nvSpPr>
        <p:spPr>
          <a:xfrm>
            <a:off x="1461941" y="2225725"/>
            <a:ext cx="978818" cy="291605"/>
          </a:xfrm>
          <a:prstGeom prst="rect">
            <a:avLst/>
          </a:prstGeom>
          <a:solidFill>
            <a:srgbClr val="A06FE2"/>
          </a:solidFill>
          <a:ln>
            <a:solidFill>
              <a:srgbClr val="A06FE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VPC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F1B9BA1-2C2F-E7B9-46DF-AAC92FDD8A15}"/>
              </a:ext>
            </a:extLst>
          </p:cNvPr>
          <p:cNvSpPr/>
          <p:nvPr/>
        </p:nvSpPr>
        <p:spPr>
          <a:xfrm>
            <a:off x="1587634" y="2579865"/>
            <a:ext cx="4077875" cy="3961142"/>
          </a:xfrm>
          <a:prstGeom prst="rect">
            <a:avLst/>
          </a:prstGeom>
          <a:noFill/>
          <a:ln w="28575">
            <a:solidFill>
              <a:srgbClr val="AFAB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C4717A5-052E-18AD-A0A6-708990CDD2E7}"/>
              </a:ext>
            </a:extLst>
          </p:cNvPr>
          <p:cNvSpPr/>
          <p:nvPr/>
        </p:nvSpPr>
        <p:spPr>
          <a:xfrm>
            <a:off x="1587634" y="2579865"/>
            <a:ext cx="978819" cy="291605"/>
          </a:xfrm>
          <a:prstGeom prst="rect">
            <a:avLst/>
          </a:prstGeom>
          <a:solidFill>
            <a:srgbClr val="AFABAB"/>
          </a:solidFill>
          <a:ln>
            <a:solidFill>
              <a:srgbClr val="AFAB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AZ</a:t>
            </a:r>
            <a:r>
              <a:rPr lang="de-DE" dirty="0"/>
              <a:t> </a:t>
            </a:r>
            <a:r>
              <a:rPr lang="de-DE" sz="1400" dirty="0"/>
              <a:t>1</a:t>
            </a:r>
            <a:endParaRPr lang="de-DE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209946E2-1589-963C-C8B2-B02EF323A014}"/>
              </a:ext>
            </a:extLst>
          </p:cNvPr>
          <p:cNvSpPr/>
          <p:nvPr/>
        </p:nvSpPr>
        <p:spPr>
          <a:xfrm>
            <a:off x="1677186" y="2934004"/>
            <a:ext cx="3790359" cy="2070433"/>
          </a:xfrm>
          <a:prstGeom prst="rect">
            <a:avLst/>
          </a:prstGeom>
          <a:noFill/>
          <a:ln w="28575">
            <a:solidFill>
              <a:srgbClr val="789A1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AAE70018-B47C-A5AB-078D-7ECC0BB6B5F3}"/>
              </a:ext>
            </a:extLst>
          </p:cNvPr>
          <p:cNvSpPr/>
          <p:nvPr/>
        </p:nvSpPr>
        <p:spPr>
          <a:xfrm>
            <a:off x="1677187" y="2926013"/>
            <a:ext cx="978819" cy="291605"/>
          </a:xfrm>
          <a:prstGeom prst="rect">
            <a:avLst/>
          </a:prstGeom>
          <a:solidFill>
            <a:srgbClr val="789A1D"/>
          </a:solidFill>
          <a:ln>
            <a:solidFill>
              <a:srgbClr val="789A1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Public </a:t>
            </a:r>
            <a:r>
              <a:rPr lang="de-DE" sz="1100" dirty="0" err="1"/>
              <a:t>subnet</a:t>
            </a:r>
            <a:endParaRPr lang="de-DE" sz="1100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0E07EAC-A549-8F47-C54E-68FF0B8CDB5C}"/>
              </a:ext>
            </a:extLst>
          </p:cNvPr>
          <p:cNvSpPr/>
          <p:nvPr/>
        </p:nvSpPr>
        <p:spPr>
          <a:xfrm>
            <a:off x="1677186" y="5136414"/>
            <a:ext cx="3790359" cy="1258791"/>
          </a:xfrm>
          <a:prstGeom prst="rect">
            <a:avLst/>
          </a:prstGeom>
          <a:noFill/>
          <a:ln w="28575">
            <a:solidFill>
              <a:srgbClr val="3DC8D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86EF1A39-37FE-ABE8-F342-F65D5A41AD41}"/>
              </a:ext>
            </a:extLst>
          </p:cNvPr>
          <p:cNvSpPr/>
          <p:nvPr/>
        </p:nvSpPr>
        <p:spPr>
          <a:xfrm>
            <a:off x="1677187" y="5136413"/>
            <a:ext cx="1088873" cy="291605"/>
          </a:xfrm>
          <a:prstGeom prst="rect">
            <a:avLst/>
          </a:prstGeom>
          <a:solidFill>
            <a:srgbClr val="3DC8D1"/>
          </a:solidFill>
          <a:ln>
            <a:solidFill>
              <a:srgbClr val="3DC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Private </a:t>
            </a:r>
            <a:r>
              <a:rPr lang="de-DE" sz="1050" dirty="0" err="1"/>
              <a:t>subnet</a:t>
            </a:r>
            <a:r>
              <a:rPr lang="de-DE" sz="1050" dirty="0"/>
              <a:t> A</a:t>
            </a: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7FAA1D3-2C16-18FD-DC77-DA6557B201BC}"/>
              </a:ext>
            </a:extLst>
          </p:cNvPr>
          <p:cNvSpPr/>
          <p:nvPr/>
        </p:nvSpPr>
        <p:spPr>
          <a:xfrm>
            <a:off x="6526492" y="2579864"/>
            <a:ext cx="4077876" cy="3961137"/>
          </a:xfrm>
          <a:prstGeom prst="rect">
            <a:avLst/>
          </a:prstGeom>
          <a:noFill/>
          <a:ln w="28575">
            <a:solidFill>
              <a:srgbClr val="AFABAB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59CE4D59-8FB3-7519-6EB1-3CBF68FDB0B3}"/>
              </a:ext>
            </a:extLst>
          </p:cNvPr>
          <p:cNvSpPr/>
          <p:nvPr/>
        </p:nvSpPr>
        <p:spPr>
          <a:xfrm>
            <a:off x="6526492" y="2579865"/>
            <a:ext cx="978819" cy="291605"/>
          </a:xfrm>
          <a:prstGeom prst="rect">
            <a:avLst/>
          </a:prstGeom>
          <a:solidFill>
            <a:srgbClr val="AFABAB"/>
          </a:solidFill>
          <a:ln>
            <a:solidFill>
              <a:srgbClr val="AFABA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AZ</a:t>
            </a:r>
            <a:r>
              <a:rPr lang="de-DE" dirty="0"/>
              <a:t> 2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CC3C618-E34C-F747-3E77-C04B50418852}"/>
              </a:ext>
            </a:extLst>
          </p:cNvPr>
          <p:cNvSpPr/>
          <p:nvPr/>
        </p:nvSpPr>
        <p:spPr>
          <a:xfrm>
            <a:off x="6735435" y="5136542"/>
            <a:ext cx="3790359" cy="1258791"/>
          </a:xfrm>
          <a:prstGeom prst="rect">
            <a:avLst/>
          </a:prstGeom>
          <a:noFill/>
          <a:ln w="28575">
            <a:solidFill>
              <a:srgbClr val="3DC8D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F43958C3-6FD0-B613-66D2-F80F5FB44E3A}"/>
              </a:ext>
            </a:extLst>
          </p:cNvPr>
          <p:cNvSpPr/>
          <p:nvPr/>
        </p:nvSpPr>
        <p:spPr>
          <a:xfrm>
            <a:off x="6748933" y="5154717"/>
            <a:ext cx="1159208" cy="291605"/>
          </a:xfrm>
          <a:prstGeom prst="rect">
            <a:avLst/>
          </a:prstGeom>
          <a:solidFill>
            <a:srgbClr val="3DC8D1"/>
          </a:solidFill>
          <a:ln>
            <a:solidFill>
              <a:srgbClr val="3DC8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100" dirty="0"/>
              <a:t>Private </a:t>
            </a:r>
            <a:r>
              <a:rPr lang="de-DE" sz="1100" dirty="0" err="1"/>
              <a:t>subnet</a:t>
            </a:r>
            <a:r>
              <a:rPr lang="de-DE" sz="1100" dirty="0"/>
              <a:t> B </a:t>
            </a:r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D46EE12F-1DB3-E067-62E3-A14A19B14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585" y="3315579"/>
            <a:ext cx="1314633" cy="1590897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36484E3B-4AAE-9F33-B283-077AF3CEC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392" y="5463795"/>
            <a:ext cx="1028844" cy="905001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C193DF26-7628-6929-A346-40C2F64154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7436" y="5457071"/>
            <a:ext cx="1028844" cy="905001"/>
          </a:xfrm>
          <a:prstGeom prst="rect">
            <a:avLst/>
          </a:prstGeom>
        </p:spPr>
      </p:pic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02A126B-E8B8-0B18-576B-AEF57EEBB99C}"/>
              </a:ext>
            </a:extLst>
          </p:cNvPr>
          <p:cNvCxnSpPr>
            <a:cxnSpLocks/>
          </p:cNvCxnSpPr>
          <p:nvPr/>
        </p:nvCxnSpPr>
        <p:spPr>
          <a:xfrm>
            <a:off x="5480218" y="5753828"/>
            <a:ext cx="465723" cy="0"/>
          </a:xfrm>
          <a:prstGeom prst="line">
            <a:avLst/>
          </a:prstGeom>
          <a:ln w="38100">
            <a:solidFill>
              <a:srgbClr val="FF8D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Gerader Verbinder 37">
            <a:extLst>
              <a:ext uri="{FF2B5EF4-FFF2-40B4-BE49-F238E27FC236}">
                <a16:creationId xmlns:a16="http://schemas.microsoft.com/office/drawing/2014/main" id="{C9EF3BAD-1EAC-B405-A280-BC15E05D6BD2}"/>
              </a:ext>
            </a:extLst>
          </p:cNvPr>
          <p:cNvCxnSpPr>
            <a:cxnSpLocks/>
          </p:cNvCxnSpPr>
          <p:nvPr/>
        </p:nvCxnSpPr>
        <p:spPr>
          <a:xfrm>
            <a:off x="6289283" y="5753828"/>
            <a:ext cx="432995" cy="0"/>
          </a:xfrm>
          <a:prstGeom prst="line">
            <a:avLst/>
          </a:prstGeom>
          <a:ln w="38100">
            <a:solidFill>
              <a:srgbClr val="FF8D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feld 4">
            <a:extLst>
              <a:ext uri="{FF2B5EF4-FFF2-40B4-BE49-F238E27FC236}">
                <a16:creationId xmlns:a16="http://schemas.microsoft.com/office/drawing/2014/main" id="{8AEBB1D9-B1D0-6429-4DB1-82AE9BF55609}"/>
              </a:ext>
            </a:extLst>
          </p:cNvPr>
          <p:cNvSpPr txBox="1"/>
          <p:nvPr/>
        </p:nvSpPr>
        <p:spPr>
          <a:xfrm>
            <a:off x="2406116" y="2217638"/>
            <a:ext cx="1080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  <a:cs typeface="Arial" panose="020B0604020202020204" pitchFamily="34" charset="0"/>
              </a:rPr>
              <a:t>10.0.0.0/16</a:t>
            </a:r>
            <a:endParaRPr lang="de-DE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BA18028-AC01-8586-83B0-D473696FBC13}"/>
              </a:ext>
            </a:extLst>
          </p:cNvPr>
          <p:cNvSpPr txBox="1"/>
          <p:nvPr/>
        </p:nvSpPr>
        <p:spPr>
          <a:xfrm>
            <a:off x="2615814" y="2917926"/>
            <a:ext cx="1080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  <a:cs typeface="Arial" panose="020B0604020202020204" pitchFamily="34" charset="0"/>
              </a:rPr>
              <a:t>10.0.1.0/24</a:t>
            </a:r>
            <a:endParaRPr lang="de-DE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25870CE-9BDE-0BF4-80CA-94935FC9CEA4}"/>
              </a:ext>
            </a:extLst>
          </p:cNvPr>
          <p:cNvSpPr txBox="1"/>
          <p:nvPr/>
        </p:nvSpPr>
        <p:spPr>
          <a:xfrm>
            <a:off x="7882973" y="5136542"/>
            <a:ext cx="1080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  <a:cs typeface="Arial" panose="020B0604020202020204" pitchFamily="34" charset="0"/>
              </a:rPr>
              <a:t>10.0.3.0/24</a:t>
            </a:r>
            <a:endParaRPr lang="de-DE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8995C10-5A51-8096-675A-A846EC1CE1A6}"/>
              </a:ext>
            </a:extLst>
          </p:cNvPr>
          <p:cNvSpPr txBox="1"/>
          <p:nvPr/>
        </p:nvSpPr>
        <p:spPr>
          <a:xfrm>
            <a:off x="2727047" y="5127251"/>
            <a:ext cx="1080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solidFill>
                  <a:schemeClr val="bg1"/>
                </a:solidFill>
                <a:cs typeface="Arial" panose="020B0604020202020204" pitchFamily="34" charset="0"/>
              </a:rPr>
              <a:t>10.0.2.0/24</a:t>
            </a:r>
            <a:endParaRPr lang="de-DE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4864D0F-3E54-83AB-EF6E-B93A95393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9462" y="3395419"/>
            <a:ext cx="995102" cy="644369"/>
          </a:xfrm>
          <a:prstGeom prst="rect">
            <a:avLst/>
          </a:prstGeom>
          <a:ln w="38100">
            <a:noFill/>
          </a:ln>
        </p:spPr>
      </p:pic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C6C1B8FB-12E6-4FD3-E3B8-8E1015C54CCC}"/>
              </a:ext>
            </a:extLst>
          </p:cNvPr>
          <p:cNvCxnSpPr>
            <a:cxnSpLocks/>
          </p:cNvCxnSpPr>
          <p:nvPr/>
        </p:nvCxnSpPr>
        <p:spPr>
          <a:xfrm>
            <a:off x="2656006" y="3614396"/>
            <a:ext cx="697255" cy="0"/>
          </a:xfrm>
          <a:prstGeom prst="line">
            <a:avLst/>
          </a:prstGeom>
          <a:ln w="38100">
            <a:solidFill>
              <a:srgbClr val="FF8D2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Grafik 29">
            <a:extLst>
              <a:ext uri="{FF2B5EF4-FFF2-40B4-BE49-F238E27FC236}">
                <a16:creationId xmlns:a16="http://schemas.microsoft.com/office/drawing/2014/main" id="{8B002195-091B-1F6A-3D11-65A0D7C55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7638" y="1412069"/>
            <a:ext cx="436722" cy="432823"/>
          </a:xfrm>
          <a:prstGeom prst="rect">
            <a:avLst/>
          </a:prstGeom>
        </p:spPr>
      </p:pic>
      <p:cxnSp>
        <p:nvCxnSpPr>
          <p:cNvPr id="34" name="Verbinder: gewinkelt 33">
            <a:extLst>
              <a:ext uri="{FF2B5EF4-FFF2-40B4-BE49-F238E27FC236}">
                <a16:creationId xmlns:a16="http://schemas.microsoft.com/office/drawing/2014/main" id="{CD71AFB2-B265-06A4-A243-89ACD2B862B0}"/>
              </a:ext>
            </a:extLst>
          </p:cNvPr>
          <p:cNvCxnSpPr>
            <a:stCxn id="30" idx="1"/>
          </p:cNvCxnSpPr>
          <p:nvPr/>
        </p:nvCxnSpPr>
        <p:spPr>
          <a:xfrm rot="10800000" flipV="1">
            <a:off x="3695850" y="1628480"/>
            <a:ext cx="2181788" cy="1985915"/>
          </a:xfrm>
          <a:prstGeom prst="bentConnector3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DED9830A-68AB-5B36-7C64-FA0D1BA86F53}"/>
              </a:ext>
            </a:extLst>
          </p:cNvPr>
          <p:cNvCxnSpPr>
            <a:cxnSpLocks/>
          </p:cNvCxnSpPr>
          <p:nvPr/>
        </p:nvCxnSpPr>
        <p:spPr>
          <a:xfrm>
            <a:off x="3144218" y="6179220"/>
            <a:ext cx="3983218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38AE213E-9732-3B5B-E91D-A5F59AD723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2278" y="1446440"/>
            <a:ext cx="501255" cy="354335"/>
          </a:xfrm>
          <a:prstGeom prst="rect">
            <a:avLst/>
          </a:prstGeom>
        </p:spPr>
      </p:pic>
      <p:cxnSp>
        <p:nvCxnSpPr>
          <p:cNvPr id="28" name="Gerade Verbindung mit Pfeil 27">
            <a:extLst>
              <a:ext uri="{FF2B5EF4-FFF2-40B4-BE49-F238E27FC236}">
                <a16:creationId xmlns:a16="http://schemas.microsoft.com/office/drawing/2014/main" id="{72480862-ACCA-6E18-336C-3C189FC96481}"/>
              </a:ext>
            </a:extLst>
          </p:cNvPr>
          <p:cNvCxnSpPr>
            <a:stCxn id="30" idx="3"/>
            <a:endCxn id="20" idx="1"/>
          </p:cNvCxnSpPr>
          <p:nvPr/>
        </p:nvCxnSpPr>
        <p:spPr>
          <a:xfrm flipV="1">
            <a:off x="6314360" y="1623608"/>
            <a:ext cx="407918" cy="4873"/>
          </a:xfrm>
          <a:prstGeom prst="straightConnector1">
            <a:avLst/>
          </a:prstGeom>
          <a:ln w="19050"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766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05902-AEB3-25E6-2AC5-658FB8574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5511588E-7CD0-5C34-9622-FE63A822A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About </a:t>
            </a:r>
            <a:r>
              <a:rPr lang="de-DE" dirty="0" err="1"/>
              <a:t>the</a:t>
            </a:r>
            <a:r>
              <a:rPr lang="de-DE" dirty="0"/>
              <a:t> AWS-Services </a:t>
            </a:r>
          </a:p>
        </p:txBody>
      </p:sp>
      <p:pic>
        <p:nvPicPr>
          <p:cNvPr id="3" name="Inhaltsplatzhalter 2">
            <a:extLst>
              <a:ext uri="{FF2B5EF4-FFF2-40B4-BE49-F238E27FC236}">
                <a16:creationId xmlns:a16="http://schemas.microsoft.com/office/drawing/2014/main" id="{82D30CC8-790E-F4D1-2CDC-6BF20911B8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407" t="3407" r="3407" b="3407"/>
          <a:stretch>
            <a:fillRect/>
          </a:stretch>
        </p:blipFill>
        <p:spPr>
          <a:xfrm>
            <a:off x="1223189" y="1844695"/>
            <a:ext cx="750391" cy="750391"/>
          </a:xfrm>
          <a:prstGeom prst="rect">
            <a:avLst/>
          </a:prstGeom>
        </p:spPr>
      </p:pic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0746E7F4-874D-451E-FDB7-29809943EF2C}"/>
              </a:ext>
            </a:extLst>
          </p:cNvPr>
          <p:cNvSpPr txBox="1">
            <a:spLocks/>
          </p:cNvSpPr>
          <p:nvPr/>
        </p:nvSpPr>
        <p:spPr>
          <a:xfrm>
            <a:off x="2332652" y="1825625"/>
            <a:ext cx="9021147" cy="8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Amazon </a:t>
            </a:r>
            <a:r>
              <a:rPr lang="de-DE" b="1" dirty="0"/>
              <a:t>VPC</a:t>
            </a:r>
            <a:r>
              <a:rPr lang="de-DE" dirty="0"/>
              <a:t> </a:t>
            </a:r>
            <a:r>
              <a:rPr lang="en-US" dirty="0"/>
              <a:t>to provision a logically isolated network environment for all resources</a:t>
            </a:r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F4D3BEC-EA66-65DF-819E-53A7A1BD9F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60" t="1085" r="4835" b="-1083"/>
          <a:stretch>
            <a:fillRect/>
          </a:stretch>
        </p:blipFill>
        <p:spPr>
          <a:xfrm>
            <a:off x="1223189" y="2835295"/>
            <a:ext cx="756000" cy="756481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0ED125F-F56D-5BB4-F2D1-1E08D6FFB5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708" r="-7708" b="-748"/>
          <a:stretch>
            <a:fillRect/>
          </a:stretch>
        </p:blipFill>
        <p:spPr>
          <a:xfrm>
            <a:off x="1162110" y="3831985"/>
            <a:ext cx="872548" cy="756000"/>
          </a:xfrm>
          <a:prstGeom prst="rect">
            <a:avLst/>
          </a:prstGeom>
        </p:spPr>
      </p:pic>
      <p:sp>
        <p:nvSpPr>
          <p:cNvPr id="15" name="Inhaltsplatzhalter 4">
            <a:extLst>
              <a:ext uri="{FF2B5EF4-FFF2-40B4-BE49-F238E27FC236}">
                <a16:creationId xmlns:a16="http://schemas.microsoft.com/office/drawing/2014/main" id="{99B8156E-8778-0CC7-7999-D0B49B944B48}"/>
              </a:ext>
            </a:extLst>
          </p:cNvPr>
          <p:cNvSpPr txBox="1">
            <a:spLocks/>
          </p:cNvSpPr>
          <p:nvPr/>
        </p:nvSpPr>
        <p:spPr>
          <a:xfrm>
            <a:off x="2332651" y="2824753"/>
            <a:ext cx="9021147" cy="8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Amazon </a:t>
            </a:r>
            <a:r>
              <a:rPr lang="de-DE" b="1" dirty="0"/>
              <a:t>EC2 </a:t>
            </a:r>
            <a:r>
              <a:rPr lang="en-US" dirty="0"/>
              <a:t>as a scalable compute service to deploy the WordPress webserver with Internet Gateway access</a:t>
            </a:r>
            <a:endParaRPr lang="de-DE" dirty="0"/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FADE643E-A7DD-A9BC-7ED9-0749B5AC65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811" t="1" r="28618" b="31916"/>
          <a:stretch>
            <a:fillRect/>
          </a:stretch>
        </p:blipFill>
        <p:spPr>
          <a:xfrm>
            <a:off x="1223189" y="4794246"/>
            <a:ext cx="756000" cy="756000"/>
          </a:xfrm>
          <a:prstGeom prst="rect">
            <a:avLst/>
          </a:prstGeom>
          <a:ln w="38100">
            <a:noFill/>
          </a:ln>
        </p:spPr>
      </p:pic>
      <p:sp>
        <p:nvSpPr>
          <p:cNvPr id="17" name="Inhaltsplatzhalter 4">
            <a:extLst>
              <a:ext uri="{FF2B5EF4-FFF2-40B4-BE49-F238E27FC236}">
                <a16:creationId xmlns:a16="http://schemas.microsoft.com/office/drawing/2014/main" id="{6492A3C4-364E-EDAC-8BDF-AC3E70D76E22}"/>
              </a:ext>
            </a:extLst>
          </p:cNvPr>
          <p:cNvSpPr txBox="1">
            <a:spLocks/>
          </p:cNvSpPr>
          <p:nvPr/>
        </p:nvSpPr>
        <p:spPr>
          <a:xfrm>
            <a:off x="2332651" y="4722789"/>
            <a:ext cx="9021147" cy="8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b="1" dirty="0"/>
              <a:t>Security Group </a:t>
            </a:r>
            <a:r>
              <a:rPr lang="en-US" dirty="0"/>
              <a:t>to control traffic: allow HTTP/SSH only to the EC2 instance and allow MySQL access only from EC2</a:t>
            </a:r>
            <a:endParaRPr lang="de-DE" dirty="0"/>
          </a:p>
        </p:txBody>
      </p:sp>
      <p:sp>
        <p:nvSpPr>
          <p:cNvPr id="18" name="Inhaltsplatzhalter 4">
            <a:extLst>
              <a:ext uri="{FF2B5EF4-FFF2-40B4-BE49-F238E27FC236}">
                <a16:creationId xmlns:a16="http://schemas.microsoft.com/office/drawing/2014/main" id="{6D38FEFE-D24E-4F5D-A2DC-61748E9C6157}"/>
              </a:ext>
            </a:extLst>
          </p:cNvPr>
          <p:cNvSpPr txBox="1">
            <a:spLocks/>
          </p:cNvSpPr>
          <p:nvPr/>
        </p:nvSpPr>
        <p:spPr>
          <a:xfrm>
            <a:off x="2332650" y="3823875"/>
            <a:ext cx="9021147" cy="8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Amazon </a:t>
            </a:r>
            <a:r>
              <a:rPr lang="de-DE" b="1" dirty="0"/>
              <a:t>RDS</a:t>
            </a:r>
            <a:r>
              <a:rPr lang="de-DE" dirty="0"/>
              <a:t> </a:t>
            </a:r>
            <a:r>
              <a:rPr lang="en-US" dirty="0"/>
              <a:t>to provide a managed and highly available MariaDB database that is not publicly accessible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565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73A58-BE7C-B4C5-BEBF-881671117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C660B30-C342-70EB-8C70-21064C594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Infrastructure </a:t>
            </a:r>
            <a:r>
              <a:rPr lang="de-DE" dirty="0" err="1"/>
              <a:t>as</a:t>
            </a:r>
            <a:r>
              <a:rPr lang="de-DE" dirty="0"/>
              <a:t> Code (</a:t>
            </a:r>
            <a:r>
              <a:rPr lang="de-DE" dirty="0" err="1"/>
              <a:t>IaC</a:t>
            </a:r>
            <a:r>
              <a:rPr lang="de-DE" dirty="0"/>
              <a:t>): Terraform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9F404502-EE3C-B2EB-0BE6-704470024350}"/>
              </a:ext>
            </a:extLst>
          </p:cNvPr>
          <p:cNvSpPr txBox="1">
            <a:spLocks/>
          </p:cNvSpPr>
          <p:nvPr/>
        </p:nvSpPr>
        <p:spPr>
          <a:xfrm>
            <a:off x="2332652" y="1825625"/>
            <a:ext cx="9021147" cy="8989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Terraform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IaC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WordPress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automates</a:t>
            </a:r>
            <a:r>
              <a:rPr lang="de-DE" dirty="0"/>
              <a:t> and mange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infrastructure</a:t>
            </a:r>
            <a:r>
              <a:rPr lang="de-DE" dirty="0"/>
              <a:t> </a:t>
            </a:r>
            <a:r>
              <a:rPr lang="de-DE" dirty="0" err="1"/>
              <a:t>more</a:t>
            </a:r>
            <a:r>
              <a:rPr lang="de-DE" dirty="0"/>
              <a:t> </a:t>
            </a:r>
            <a:r>
              <a:rPr lang="de-DE" dirty="0" err="1"/>
              <a:t>effectively</a:t>
            </a:r>
            <a:r>
              <a:rPr lang="de-DE" dirty="0"/>
              <a:t>.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BFF6DAD-412D-CE5E-C151-F66F8A4F2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189" y="1825625"/>
            <a:ext cx="756000" cy="759405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4EE30929-A321-68B6-98B1-6B7216E84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70" y="3074636"/>
            <a:ext cx="2991267" cy="72400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1352B024-F3FC-D244-33C9-B407DB773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370" y="5446187"/>
            <a:ext cx="3839111" cy="543001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8F4613EE-EC1B-616C-CB03-0A3322F97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370" y="4155622"/>
            <a:ext cx="4267796" cy="933580"/>
          </a:xfrm>
          <a:prstGeom prst="rect">
            <a:avLst/>
          </a:prstGeom>
        </p:spPr>
      </p:pic>
      <p:sp>
        <p:nvSpPr>
          <p:cNvPr id="23" name="Textfeld 22">
            <a:extLst>
              <a:ext uri="{FF2B5EF4-FFF2-40B4-BE49-F238E27FC236}">
                <a16:creationId xmlns:a16="http://schemas.microsoft.com/office/drawing/2014/main" id="{8C8BF25B-ADC2-E6FC-477D-EAAC31F84E49}"/>
              </a:ext>
            </a:extLst>
          </p:cNvPr>
          <p:cNvSpPr txBox="1"/>
          <p:nvPr/>
        </p:nvSpPr>
        <p:spPr>
          <a:xfrm>
            <a:off x="1100422" y="3713796"/>
            <a:ext cx="1249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variables.tf</a:t>
            </a:r>
          </a:p>
          <a:p>
            <a:endParaRPr lang="de-DE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CBCB6360-F2BB-E9EA-3263-5F81CABA8F9A}"/>
              </a:ext>
            </a:extLst>
          </p:cNvPr>
          <p:cNvSpPr txBox="1"/>
          <p:nvPr/>
        </p:nvSpPr>
        <p:spPr>
          <a:xfrm>
            <a:off x="1100421" y="4993609"/>
            <a:ext cx="878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main.tf</a:t>
            </a:r>
          </a:p>
          <a:p>
            <a:endParaRPr lang="de-DE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1AB2BB5A-BF1F-D168-7078-54FBB4D35143}"/>
              </a:ext>
            </a:extLst>
          </p:cNvPr>
          <p:cNvSpPr txBox="1"/>
          <p:nvPr/>
        </p:nvSpPr>
        <p:spPr>
          <a:xfrm>
            <a:off x="1100420" y="5927724"/>
            <a:ext cx="17187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terraform.tfvars</a:t>
            </a:r>
            <a:endParaRPr lang="de-DE" dirty="0"/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5694998D-2317-1C1E-9FA0-7E60CE335B01}"/>
              </a:ext>
            </a:extLst>
          </p:cNvPr>
          <p:cNvSpPr txBox="1"/>
          <p:nvPr/>
        </p:nvSpPr>
        <p:spPr>
          <a:xfrm>
            <a:off x="5896947" y="4487937"/>
            <a:ext cx="54568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VPC + </a:t>
            </a:r>
            <a:r>
              <a:rPr lang="de-DE" dirty="0" err="1"/>
              <a:t>Subnets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 </a:t>
            </a:r>
            <a:r>
              <a:rPr lang="de-DE" dirty="0" err="1"/>
              <a:t>with</a:t>
            </a:r>
            <a:r>
              <a:rPr lang="de-DE" dirty="0"/>
              <a:t> .</a:t>
            </a:r>
            <a:r>
              <a:rPr lang="de-DE" dirty="0" err="1"/>
              <a:t>tf</a:t>
            </a:r>
            <a:r>
              <a:rPr lang="de-DE" dirty="0"/>
              <a:t> </a:t>
            </a:r>
            <a:r>
              <a:rPr lang="de-DE" dirty="0" err="1"/>
              <a:t>files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Security </a:t>
            </a:r>
            <a:r>
              <a:rPr lang="de-DE" dirty="0" err="1"/>
              <a:t>groups</a:t>
            </a:r>
            <a:r>
              <a:rPr lang="de-DE" dirty="0"/>
              <a:t> </a:t>
            </a:r>
            <a:r>
              <a:rPr lang="de-DE" dirty="0" err="1"/>
              <a:t>defined</a:t>
            </a:r>
            <a:r>
              <a:rPr lang="de-DE" dirty="0"/>
              <a:t> </a:t>
            </a:r>
            <a:r>
              <a:rPr lang="de-DE" dirty="0" err="1"/>
              <a:t>declaratively</a:t>
            </a:r>
            <a:endParaRPr lang="de-DE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EC2 </a:t>
            </a:r>
            <a:r>
              <a:rPr lang="de-DE" dirty="0" err="1"/>
              <a:t>configured</a:t>
            </a:r>
            <a:r>
              <a:rPr lang="de-DE" dirty="0"/>
              <a:t> in a user_data.sh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RDS </a:t>
            </a:r>
            <a:r>
              <a:rPr lang="de-DE" dirty="0" err="1"/>
              <a:t>created</a:t>
            </a:r>
            <a:r>
              <a:rPr lang="de-DE" dirty="0"/>
              <a:t> in Multi-AZ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 err="1"/>
              <a:t>Automatic</a:t>
            </a:r>
            <a:r>
              <a:rPr lang="de-DE" dirty="0"/>
              <a:t> </a:t>
            </a:r>
            <a:r>
              <a:rPr lang="de-DE" dirty="0" err="1"/>
              <a:t>insertion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RDS </a:t>
            </a:r>
            <a:r>
              <a:rPr lang="de-DE" dirty="0" err="1"/>
              <a:t>endpoint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WordPress </a:t>
            </a:r>
            <a:r>
              <a:rPr lang="de-DE" dirty="0" err="1"/>
              <a:t>config</a:t>
            </a:r>
            <a:endParaRPr lang="de-DE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D164B3F-3D8B-D88B-018A-0A8DD6063DD1}"/>
              </a:ext>
            </a:extLst>
          </p:cNvPr>
          <p:cNvSpPr txBox="1"/>
          <p:nvPr/>
        </p:nvSpPr>
        <p:spPr>
          <a:xfrm>
            <a:off x="5792719" y="304802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/>
              <a:t>Declaration </a:t>
            </a:r>
            <a:r>
              <a:rPr lang="de-DE" dirty="0" err="1"/>
              <a:t>of</a:t>
            </a:r>
            <a:r>
              <a:rPr lang="de-DE" dirty="0"/>
              <a:t> variables, in varaibles.tf </a:t>
            </a:r>
            <a:r>
              <a:rPr lang="de-DE" dirty="0" err="1"/>
              <a:t>files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in .</a:t>
            </a:r>
            <a:r>
              <a:rPr lang="de-DE" dirty="0" err="1"/>
              <a:t>tf</a:t>
            </a:r>
            <a:r>
              <a:rPr lang="de-DE" dirty="0"/>
              <a:t> </a:t>
            </a:r>
            <a:r>
              <a:rPr lang="de-DE" dirty="0" err="1"/>
              <a:t>files</a:t>
            </a:r>
            <a:r>
              <a:rPr lang="de-DE" dirty="0"/>
              <a:t> and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contain</a:t>
            </a:r>
            <a:r>
              <a:rPr lang="de-DE" dirty="0"/>
              <a:t> sensitive Information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written</a:t>
            </a:r>
            <a:r>
              <a:rPr lang="de-DE" dirty="0"/>
              <a:t> in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terraform.tfvars</a:t>
            </a:r>
            <a:r>
              <a:rPr lang="de-DE" dirty="0"/>
              <a:t> </a:t>
            </a:r>
            <a:r>
              <a:rPr lang="de-DE" dirty="0" err="1"/>
              <a:t>file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8476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D05FC-3CD4-BC29-B135-A0352652F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D962D41-04ED-96F9-88B1-51DD7E661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Deployment</a:t>
            </a:r>
            <a:r>
              <a:rPr lang="de-DE" dirty="0"/>
              <a:t> Workflow</a:t>
            </a:r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4BE8BC66-C2CC-ED1B-AD9E-87926DEE7A75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6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dirty="0"/>
              <a:t>CI-like </a:t>
            </a:r>
            <a:r>
              <a:rPr lang="de-DE" dirty="0" err="1"/>
              <a:t>pipeline</a:t>
            </a:r>
            <a:r>
              <a:rPr lang="de-DE" dirty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terraform</a:t>
            </a:r>
            <a:r>
              <a:rPr lang="de-DE" dirty="0"/>
              <a:t> </a:t>
            </a:r>
            <a:r>
              <a:rPr lang="de-DE" dirty="0" err="1"/>
              <a:t>init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terraform</a:t>
            </a:r>
            <a:r>
              <a:rPr lang="de-DE" dirty="0"/>
              <a:t> plan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terraform</a:t>
            </a:r>
            <a:r>
              <a:rPr lang="de-DE" dirty="0"/>
              <a:t> </a:t>
            </a:r>
            <a:r>
              <a:rPr lang="de-DE" dirty="0" err="1"/>
              <a:t>apply</a:t>
            </a: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EC2 user-</a:t>
            </a:r>
            <a:r>
              <a:rPr lang="de-DE" dirty="0" err="1"/>
              <a:t>data</a:t>
            </a:r>
            <a:r>
              <a:rPr lang="de-DE" dirty="0"/>
              <a:t> auto-</a:t>
            </a:r>
            <a:r>
              <a:rPr lang="de-DE" dirty="0" err="1"/>
              <a:t>installs</a:t>
            </a:r>
            <a:r>
              <a:rPr lang="de-DE" dirty="0"/>
              <a:t> WordPress</a:t>
            </a:r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EC2 </a:t>
            </a:r>
            <a:r>
              <a:rPr lang="de-DE" dirty="0" err="1"/>
              <a:t>connects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RDS </a:t>
            </a:r>
            <a:r>
              <a:rPr lang="de-DE" dirty="0" err="1"/>
              <a:t>automatically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FCCDDCA-C4D1-4CF0-D099-151ECA91C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1329" y="2267338"/>
            <a:ext cx="5694520" cy="853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607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2825-A68C-162B-BEFC-797933812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FC1B2F4D-9770-B2E3-0C32-EE2A0090A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Results</a:t>
            </a:r>
            <a:endParaRPr lang="de-DE" dirty="0"/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1668A853-FAB8-4984-D69E-54ACD4FFC8D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6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dirty="0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EC040DBB-6F71-A8C8-655A-215037F67D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6904" r="3099" b="33333"/>
          <a:stretch>
            <a:fillRect/>
          </a:stretch>
        </p:blipFill>
        <p:spPr>
          <a:xfrm>
            <a:off x="7240554" y="4489279"/>
            <a:ext cx="4456145" cy="4320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609FA14D-8EC4-11D0-5895-297957DEF1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" t="1030" r="4395" b="28136"/>
          <a:stretch>
            <a:fillRect/>
          </a:stretch>
        </p:blipFill>
        <p:spPr>
          <a:xfrm>
            <a:off x="7551860" y="5200291"/>
            <a:ext cx="4144840" cy="466638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87769C8-0BDC-CA12-9B18-71DC0019AF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377667"/>
            <a:ext cx="6321496" cy="1523107"/>
          </a:xfrm>
          <a:prstGeom prst="rect">
            <a:avLst/>
          </a:prstGeom>
        </p:spPr>
      </p:pic>
      <p:sp>
        <p:nvSpPr>
          <p:cNvPr id="10" name="Inhaltsplatzhalter 4">
            <a:extLst>
              <a:ext uri="{FF2B5EF4-FFF2-40B4-BE49-F238E27FC236}">
                <a16:creationId xmlns:a16="http://schemas.microsoft.com/office/drawing/2014/main" id="{D703E705-55F4-C943-092E-0674C4DEBB38}"/>
              </a:ext>
            </a:extLst>
          </p:cNvPr>
          <p:cNvSpPr txBox="1">
            <a:spLocks/>
          </p:cNvSpPr>
          <p:nvPr/>
        </p:nvSpPr>
        <p:spPr>
          <a:xfrm>
            <a:off x="990600" y="1978025"/>
            <a:ext cx="10515600" cy="4126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75C6AA0-0378-A5EE-5927-7B81C7B22C2E}"/>
              </a:ext>
            </a:extLst>
          </p:cNvPr>
          <p:cNvSpPr txBox="1"/>
          <p:nvPr/>
        </p:nvSpPr>
        <p:spPr>
          <a:xfrm>
            <a:off x="838200" y="1699600"/>
            <a:ext cx="1066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EC2 </a:t>
            </a:r>
            <a:r>
              <a:rPr lang="de-DE" sz="2800" dirty="0" err="1"/>
              <a:t>webserver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running</a:t>
            </a:r>
            <a:r>
              <a:rPr lang="de-DE" sz="2800" dirty="0"/>
              <a:t> in </a:t>
            </a:r>
            <a:r>
              <a:rPr lang="de-DE" sz="2800" dirty="0" err="1"/>
              <a:t>the</a:t>
            </a:r>
            <a:r>
              <a:rPr lang="de-DE" sz="2800" dirty="0"/>
              <a:t> </a:t>
            </a:r>
            <a:r>
              <a:rPr lang="de-DE" sz="2800" dirty="0" err="1"/>
              <a:t>public</a:t>
            </a:r>
            <a:r>
              <a:rPr lang="de-DE" sz="2800" dirty="0"/>
              <a:t> </a:t>
            </a:r>
            <a:r>
              <a:rPr lang="de-DE" sz="2800" dirty="0" err="1"/>
              <a:t>subnet</a:t>
            </a:r>
            <a:endParaRPr lang="de-D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RDS </a:t>
            </a:r>
            <a:r>
              <a:rPr lang="de-DE" sz="2800" dirty="0" err="1"/>
              <a:t>MariaDB</a:t>
            </a:r>
            <a:r>
              <a:rPr lang="de-DE" sz="2800" dirty="0"/>
              <a:t> </a:t>
            </a:r>
            <a:r>
              <a:rPr lang="de-DE" sz="2800" dirty="0" err="1"/>
              <a:t>instance</a:t>
            </a:r>
            <a:r>
              <a:rPr lang="de-DE" sz="2800" dirty="0"/>
              <a:t> </a:t>
            </a:r>
            <a:r>
              <a:rPr lang="de-DE" sz="2800" dirty="0" err="1"/>
              <a:t>is</a:t>
            </a:r>
            <a:r>
              <a:rPr lang="de-DE" sz="2800" dirty="0"/>
              <a:t> </a:t>
            </a:r>
            <a:r>
              <a:rPr lang="de-DE" sz="2800" dirty="0" err="1"/>
              <a:t>available</a:t>
            </a:r>
            <a:r>
              <a:rPr lang="de-DE" sz="2800" dirty="0"/>
              <a:t> in private </a:t>
            </a:r>
            <a:r>
              <a:rPr lang="de-DE" sz="2800" dirty="0" err="1"/>
              <a:t>subnets</a:t>
            </a:r>
            <a:r>
              <a:rPr lang="de-DE" sz="2800" dirty="0"/>
              <a:t> (Multi-AZ)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VPC </a:t>
            </a:r>
            <a:r>
              <a:rPr lang="de-DE" sz="2800" dirty="0" err="1"/>
              <a:t>networking</a:t>
            </a:r>
            <a:r>
              <a:rPr lang="de-DE" sz="2800" dirty="0"/>
              <a:t> </a:t>
            </a:r>
            <a:r>
              <a:rPr lang="de-DE" sz="2800" dirty="0" err="1"/>
              <a:t>configured</a:t>
            </a:r>
            <a:r>
              <a:rPr lang="de-DE" sz="2800" dirty="0"/>
              <a:t> </a:t>
            </a:r>
            <a:r>
              <a:rPr lang="de-DE" sz="2800" dirty="0" err="1"/>
              <a:t>correctly</a:t>
            </a:r>
            <a:r>
              <a:rPr lang="de-DE" sz="2800" dirty="0"/>
              <a:t> (IGW, </a:t>
            </a:r>
            <a:r>
              <a:rPr lang="de-DE" sz="2800" dirty="0" err="1"/>
              <a:t>subnets</a:t>
            </a:r>
            <a:r>
              <a:rPr lang="de-DE" sz="2800" dirty="0"/>
              <a:t>, route </a:t>
            </a:r>
            <a:r>
              <a:rPr lang="de-DE" sz="2800" dirty="0" err="1"/>
              <a:t>tables</a:t>
            </a:r>
            <a:r>
              <a:rPr lang="de-DE" sz="28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Proper </a:t>
            </a:r>
            <a:r>
              <a:rPr lang="de-DE" sz="2800" dirty="0" err="1"/>
              <a:t>separation</a:t>
            </a:r>
            <a:r>
              <a:rPr lang="de-DE" sz="2800" dirty="0"/>
              <a:t> </a:t>
            </a:r>
            <a:r>
              <a:rPr lang="de-DE" sz="2800" dirty="0" err="1"/>
              <a:t>between</a:t>
            </a:r>
            <a:r>
              <a:rPr lang="de-DE" sz="2800" dirty="0"/>
              <a:t> web </a:t>
            </a:r>
            <a:r>
              <a:rPr lang="de-DE" sz="2800" dirty="0" err="1"/>
              <a:t>server</a:t>
            </a:r>
            <a:r>
              <a:rPr lang="de-DE" sz="2800" dirty="0"/>
              <a:t> and </a:t>
            </a:r>
            <a:r>
              <a:rPr lang="de-DE" sz="2800" dirty="0" err="1"/>
              <a:t>database</a:t>
            </a:r>
            <a:endParaRPr lang="de-DE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800" dirty="0"/>
              <a:t>All AWS </a:t>
            </a:r>
            <a:r>
              <a:rPr lang="de-DE" sz="2800" dirty="0" err="1"/>
              <a:t>resources</a:t>
            </a:r>
            <a:r>
              <a:rPr lang="de-DE" sz="2800" dirty="0"/>
              <a:t> </a:t>
            </a:r>
            <a:r>
              <a:rPr lang="de-DE" sz="2800" dirty="0" err="1"/>
              <a:t>provisioned</a:t>
            </a:r>
            <a:r>
              <a:rPr lang="de-DE" sz="2800" dirty="0"/>
              <a:t> </a:t>
            </a:r>
            <a:r>
              <a:rPr lang="de-DE" sz="2800" dirty="0" err="1"/>
              <a:t>automatically</a:t>
            </a:r>
            <a:r>
              <a:rPr lang="de-DE" sz="2800" dirty="0"/>
              <a:t> </a:t>
            </a:r>
            <a:r>
              <a:rPr lang="de-DE" sz="2800" dirty="0" err="1"/>
              <a:t>using</a:t>
            </a:r>
            <a:r>
              <a:rPr lang="de-DE" sz="2800" dirty="0"/>
              <a:t> Terraform</a:t>
            </a:r>
          </a:p>
        </p:txBody>
      </p:sp>
    </p:spTree>
    <p:extLst>
      <p:ext uri="{BB962C8B-B14F-4D97-AF65-F5344CB8AC3E}">
        <p14:creationId xmlns:p14="http://schemas.microsoft.com/office/powerpoint/2010/main" val="2391271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19387-E222-3A2F-0CB7-502466F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4ADC9C7F-C1FE-69B6-CCA3-C0E0FD388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6" name="Inhaltsplatzhalter 4">
            <a:extLst>
              <a:ext uri="{FF2B5EF4-FFF2-40B4-BE49-F238E27FC236}">
                <a16:creationId xmlns:a16="http://schemas.microsoft.com/office/drawing/2014/main" id="{9B1E0448-16EE-F49B-A998-CE3F33A4DCF4}"/>
              </a:ext>
            </a:extLst>
          </p:cNvPr>
          <p:cNvSpPr txBox="1">
            <a:spLocks/>
          </p:cNvSpPr>
          <p:nvPr/>
        </p:nvSpPr>
        <p:spPr>
          <a:xfrm>
            <a:off x="838200" y="1825624"/>
            <a:ext cx="10515599" cy="39655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de-DE" sz="3600" dirty="0"/>
          </a:p>
          <a:p>
            <a:pPr marL="0" indent="0" algn="ctr">
              <a:buNone/>
            </a:pPr>
            <a:endParaRPr lang="de-DE" sz="3600" dirty="0"/>
          </a:p>
          <a:p>
            <a:pPr marL="0" indent="0" algn="ctr">
              <a:buNone/>
            </a:pPr>
            <a:r>
              <a:rPr lang="de-DE" sz="36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857029695"/>
      </p:ext>
    </p:extLst>
  </p:cSld>
  <p:clrMapOvr>
    <a:masterClrMapping/>
  </p:clrMapOvr>
</p:sld>
</file>

<file path=ppt/theme/theme1.xml><?xml version="1.0" encoding="utf-8"?>
<a:theme xmlns:a="http://schemas.openxmlformats.org/drawingml/2006/main" name="Tiefe">
  <a:themeElements>
    <a:clrScheme name="Tief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Tief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ief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TM04033923[[fn=Tiefe]]</Template>
  <TotalTime>0</TotalTime>
  <Words>342</Words>
  <Application>Microsoft Office PowerPoint</Application>
  <PresentationFormat>Breitbild</PresentationFormat>
  <Paragraphs>63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2" baseType="lpstr">
      <vt:lpstr>Arial</vt:lpstr>
      <vt:lpstr>Corbel</vt:lpstr>
      <vt:lpstr>Tiefe</vt:lpstr>
      <vt:lpstr>Building a Scalable WordPress Architecture  using Infrastructure as Code</vt:lpstr>
      <vt:lpstr>Agenda</vt:lpstr>
      <vt:lpstr>Problems &amp; Requirements</vt:lpstr>
      <vt:lpstr>AWS Solution Architecture</vt:lpstr>
      <vt:lpstr>About the AWS-Services </vt:lpstr>
      <vt:lpstr>Infrastructure as Code (IaC): Terraform</vt:lpstr>
      <vt:lpstr>Deployment Workflow</vt:lpstr>
      <vt:lpstr>Results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Heiko Graceffa</dc:creator>
  <cp:lastModifiedBy>Heiko Graceffa</cp:lastModifiedBy>
  <cp:revision>30</cp:revision>
  <dcterms:created xsi:type="dcterms:W3CDTF">2025-11-26T10:53:31Z</dcterms:created>
  <dcterms:modified xsi:type="dcterms:W3CDTF">2025-12-03T11:20:17Z</dcterms:modified>
</cp:coreProperties>
</file>